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333" r:id="rId4"/>
    <p:sldId id="33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0000FF"/>
    <a:srgbClr val="002F75"/>
    <a:srgbClr val="D00034"/>
    <a:srgbClr val="002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00" autoAdjust="0"/>
    <p:restoredTop sz="96323" autoAdjust="0"/>
  </p:normalViewPr>
  <p:slideViewPr>
    <p:cSldViewPr snapToGrid="0">
      <p:cViewPr varScale="1">
        <p:scale>
          <a:sx n="84" d="100"/>
          <a:sy n="84" d="100"/>
        </p:scale>
        <p:origin x="11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23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32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365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63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41204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zh-CN" altLang="en-US" sz="1600" dirty="0">
                <a:latin typeface="+mj-ea"/>
                <a:ea typeface="+mj-ea"/>
                <a:sym typeface="等线"/>
              </a:rPr>
              <a:t>正文内容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-</a:t>
            </a:r>
            <a:r>
              <a:rPr kumimoji="1" lang="zh-CN" altLang="en-US" sz="1600" dirty="0">
                <a:latin typeface="+mj-ea"/>
                <a:ea typeface="+mj-ea"/>
                <a:sym typeface="等线"/>
              </a:rPr>
              <a:t>字号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12-18</a:t>
            </a:r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D06F396-41A5-42E3-5F20-72B3893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fld id="{E5386DCD-524C-4D6B-849A-07B12901B9AD}" type="slidenum">
              <a:rPr lang="zh-CN" altLang="en-US" smtClean="0"/>
              <a:pPr/>
              <a:t>‹#›</a:t>
            </a:fld>
            <a:r>
              <a:rPr lang="en-US" altLang="zh-CN" dirty="0"/>
              <a:t>/N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621F51-BC94-CE0C-016B-69E5DF345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882"/>
            <a:ext cx="868837" cy="48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5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53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0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8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22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5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05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6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34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274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88869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84C0D-BE4E-4BC2-9EDE-B69FD77C6CB1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103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41204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zh-CN" altLang="en-US" sz="1600" dirty="0">
                <a:latin typeface="+mj-ea"/>
                <a:ea typeface="+mj-ea"/>
                <a:sym typeface="等线"/>
              </a:rPr>
              <a:t>正文内容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-</a:t>
            </a:r>
            <a:r>
              <a:rPr kumimoji="1" lang="zh-CN" altLang="en-US" sz="1600" dirty="0">
                <a:latin typeface="+mj-ea"/>
                <a:ea typeface="+mj-ea"/>
                <a:sym typeface="等线"/>
              </a:rPr>
              <a:t>字号</a:t>
            </a:r>
            <a:r>
              <a:rPr kumimoji="1" lang="en-US" altLang="zh-CN" sz="1600" dirty="0">
                <a:latin typeface="+mj-ea"/>
                <a:ea typeface="+mj-ea"/>
                <a:sym typeface="等线"/>
              </a:rPr>
              <a:t>12-18</a:t>
            </a:r>
            <a:endParaRPr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D06F396-41A5-42E3-5F20-72B3893B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黑体 CN Regular" panose="020B0500000000000000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黑体 CN Regular" panose="020B0500000000000000" pitchFamily="34" charset="-122"/>
                <a:cs typeface="+mn-cs"/>
              </a:rPr>
              <a:t>/N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621F51-BC94-CE0C-016B-69E5DF345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882"/>
            <a:ext cx="868837" cy="48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28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19FD35-CA62-4B7C-AD62-337432DD5B9B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2256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708C2F-3403-4825-8C4D-5962122BB6E9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199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5CD7AF-6E1F-4068-BFE5-01BA72FCB20A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8495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889BC6-4612-424E-949C-CE8C9C3353E8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028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4024A9-C9CE-42AB-BB0F-702BD459DE93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3213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6A6F2C-56C5-4B0E-AD4A-1DD9CED0DC5F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600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A963CC-1AD2-4E52-95BA-7FC121397678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40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77DF6-581C-470F-9EC7-1448BA5CB3CC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4341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E34141-2C67-4235-B0A3-CF2E2F4BE2AF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7691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57864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BC33C-A113-43F4-B133-BEB11E68D4CF}" type="datetime1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2026/4/16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4CCD9-AF14-4FD0-8E12-CF82B8F58377}" type="slidenum">
              <a:rPr kumimoji="0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5056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457432" y="6601968"/>
            <a:ext cx="734568" cy="256032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6DCD-524C-4D6B-849A-07B12901B9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cs typeface="+mn-cs"/>
              </a:rPr>
              <a:t>/N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480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63622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思源黑体 CN Heavy" panose="020B0A00000000000000" pitchFamily="34" charset="-122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主标题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字号</a:t>
            </a:r>
            <a:r>
              <a:rPr kumimoji="1" lang="en-US" altLang="zh-CN" sz="3600" b="1" dirty="0">
                <a:solidFill>
                  <a:srgbClr val="002F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30-36</a:t>
            </a:r>
            <a:endParaRPr kumimoji="1" lang="zh-TW" altLang="en-US" sz="3600" b="1" dirty="0">
              <a:solidFill>
                <a:srgbClr val="002F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108520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思源黑体 CN Heavy" panose="020B0A00000000000000" pitchFamily="34" charset="-122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8636" y="1491156"/>
            <a:ext cx="857676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SFG135171 </a:t>
            </a:r>
          </a:p>
          <a:p>
            <a:r>
              <a:rPr lang="en-US" altLang="zh-CN" sz="2800" b="1" dirty="0" smtClean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Short </a:t>
            </a:r>
            <a:r>
              <a:rPr lang="en-US" altLang="zh-CN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&lt;1 21 22 </a:t>
            </a:r>
            <a:r>
              <a:rPr lang="en-US" altLang="zh-CN" sz="2800" b="1" dirty="0" smtClean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23…974 </a:t>
            </a:r>
            <a:r>
              <a:rPr lang="en-US" altLang="zh-CN" sz="2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979&gt;-GND-&gt; Parts:Y17.4;&lt;32 358 427 683&gt;-1V2_BMC-&gt; Parts:M2.96;</a:t>
            </a:r>
            <a:endParaRPr lang="nl-NL" altLang="zh-CN" sz="2800" b="1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4391" y="4661640"/>
            <a:ext cx="4746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hangingPunct="0"/>
            <a:r>
              <a:rPr lang="en-US" altLang="zh-TW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Prepared: PE </a:t>
            </a:r>
            <a:r>
              <a:rPr lang="en-US" altLang="zh-TW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Toan</a:t>
            </a:r>
            <a:endParaRPr lang="vi-VN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hangingPunct="0"/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20</a:t>
            </a:r>
            <a:r>
              <a:rPr lang="vi-VN" altLang="zh-CN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2</a:t>
            </a:r>
            <a:r>
              <a:rPr lang="en-US" altLang="zh-CN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6</a:t>
            </a:r>
            <a:r>
              <a:rPr lang="zh-CN" altLang="en-US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年</a:t>
            </a:r>
            <a:r>
              <a:rPr lang="en-US" altLang="zh-CN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等线"/>
              </a:rPr>
              <a:t>04</a:t>
            </a:r>
            <a:r>
              <a:rPr lang="zh-CN" altLang="en-US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月</a:t>
            </a:r>
            <a:r>
              <a:rPr lang="en-US" altLang="zh-CN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15</a:t>
            </a:r>
            <a:r>
              <a:rPr lang="zh-CN" altLang="en-US" b="1" dirty="0" smtClean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日</a:t>
            </a:r>
            <a:endParaRPr lang="en-US" altLang="zh-TW" b="1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106398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4863" y="422174"/>
            <a:ext cx="106090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SFG302185- </a:t>
            </a:r>
            <a:r>
              <a:rPr lang="en-US" altLang="zh-CN" sz="1400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Short </a:t>
            </a:r>
            <a:r>
              <a:rPr lang="en-US" altLang="zh-CN" sz="1400" b="1" dirty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&lt;1 21 22 23…974 979&gt;-GND-&gt; Parts:Y17.4;&lt;32 358 427 683&gt;-1V2_BMC-</a:t>
            </a:r>
            <a:r>
              <a:rPr lang="en-US" altLang="zh-CN" sz="1400" b="1" dirty="0" smtClean="0">
                <a:solidFill>
                  <a:srgbClr val="002F7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&gt; Parts:M2.96;</a:t>
            </a:r>
            <a:endParaRPr lang="nl-NL" altLang="zh-CN" sz="1400" b="1" dirty="0" smtClean="0">
              <a:solidFill>
                <a:srgbClr val="002F75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aphicFrame>
        <p:nvGraphicFramePr>
          <p:cNvPr id="12" name="表格 1">
            <a:extLst>
              <a:ext uri="{FF2B5EF4-FFF2-40B4-BE49-F238E27FC236}">
                <a16:creationId xmlns:a16="http://schemas.microsoft.com/office/drawing/2014/main" id="{961AD900-218E-4A2B-8E37-7D77229E5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313474"/>
              </p:ext>
            </p:extLst>
          </p:nvPr>
        </p:nvGraphicFramePr>
        <p:xfrm>
          <a:off x="0" y="814681"/>
          <a:ext cx="12192000" cy="581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412">
                  <a:extLst>
                    <a:ext uri="{9D8B030D-6E8A-4147-A177-3AD203B41FA5}">
                      <a16:colId xmlns:a16="http://schemas.microsoft.com/office/drawing/2014/main" val="1717938269"/>
                    </a:ext>
                  </a:extLst>
                </a:gridCol>
                <a:gridCol w="907260">
                  <a:extLst>
                    <a:ext uri="{9D8B030D-6E8A-4147-A177-3AD203B41FA5}">
                      <a16:colId xmlns:a16="http://schemas.microsoft.com/office/drawing/2014/main" val="2807392099"/>
                    </a:ext>
                  </a:extLst>
                </a:gridCol>
                <a:gridCol w="567890">
                  <a:extLst>
                    <a:ext uri="{9D8B030D-6E8A-4147-A177-3AD203B41FA5}">
                      <a16:colId xmlns:a16="http://schemas.microsoft.com/office/drawing/2014/main" val="2151682411"/>
                    </a:ext>
                  </a:extLst>
                </a:gridCol>
                <a:gridCol w="7403379">
                  <a:extLst>
                    <a:ext uri="{9D8B030D-6E8A-4147-A177-3AD203B41FA5}">
                      <a16:colId xmlns:a16="http://schemas.microsoft.com/office/drawing/2014/main" val="4110505547"/>
                    </a:ext>
                  </a:extLst>
                </a:gridCol>
                <a:gridCol w="2517059">
                  <a:extLst>
                    <a:ext uri="{9D8B030D-6E8A-4147-A177-3AD203B41FA5}">
                      <a16:colId xmlns:a16="http://schemas.microsoft.com/office/drawing/2014/main" val="4252437796"/>
                    </a:ext>
                  </a:extLst>
                </a:gridCol>
              </a:tblGrid>
              <a:tr h="307686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Problem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1" dirty="0" smtClean="0">
                          <a:solidFill>
                            <a:schemeClr val="bg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description(5W2H)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Root cause analysis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改善對策</a:t>
                      </a:r>
                      <a:r>
                        <a:rPr lang="en-US" alt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(Improvement Action)</a:t>
                      </a:r>
                      <a:endParaRPr lang="en-US" altLang="zh-TW" sz="12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578778957"/>
                  </a:ext>
                </a:extLst>
              </a:tr>
              <a:tr h="3692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When: </a:t>
                      </a:r>
                      <a:r>
                        <a:rPr lang="en-US" altLang="zh-CN" sz="1200" dirty="0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2026-04-15</a:t>
                      </a:r>
                      <a:endParaRPr lang="en-US" altLang="zh-CN" sz="1200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Who</a:t>
                      </a:r>
                      <a:r>
                        <a:rPr lang="vi-VN" altLang="zh-CN" sz="1200" b="0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  <a:endParaRPr lang="en-US" altLang="zh-CN" sz="1200" b="0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200" b="0" dirty="0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PE</a:t>
                      </a:r>
                      <a:r>
                        <a:rPr lang="en-US" altLang="zh-CN" sz="1200" b="0" baseline="0" dirty="0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Toan</a:t>
                      </a:r>
                      <a:endParaRPr lang="en-US" altLang="zh-CN" sz="1200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200" b="1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Where</a:t>
                      </a:r>
                      <a:r>
                        <a:rPr lang="en-US" altLang="zh-CN" sz="120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93663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F06</a:t>
                      </a:r>
                    </a:p>
                  </a:txBody>
                  <a:tcPr marL="0" marR="0" marT="0" marB="0" anchor="ctr"/>
                </a:tc>
                <a:tc row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u="non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Defect symptom: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dirty="0" smtClean="0"/>
                        <a:t>ICT fail: Short circuit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 smtClean="0"/>
                        <a:t>The same short circuit symptom was also detected at multiple locations </a:t>
                      </a:r>
                      <a:r>
                        <a:rPr lang="en-US" sz="1200" b="0" dirty="0" smtClean="0"/>
                        <a:t>U99 / DDR / J13 / J14,…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altLang="zh-CN" sz="1200" b="1" u="non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FA process: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CN" sz="1200" b="1" u="none" kern="1200" baseline="0" dirty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zh-CN" sz="1200" b="1" u="none" kern="1200" baseline="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  <a:p>
                      <a:pPr marL="228600" marR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Visual inspection (CCD) detects short circuit at multiple locations (J13, J14, etc.).</a:t>
                      </a:r>
                    </a:p>
                    <a:p>
                      <a:pPr marL="228600" marR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ICT retest: FAIL (same symptom).</a:t>
                      </a:r>
                    </a:p>
                    <a:p>
                      <a:pPr marL="228600" marR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dirty="0" smtClean="0"/>
                        <a:t>X-ray analysis confirmed solder bridging at U99 / DDR area, which caused the short circuit</a:t>
                      </a: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28600" marR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After cleaning and rework → ICT retest PASS.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 smtClean="0"/>
                        <a:t>Consistent defects across multiple locations confirm a systemic SMT process instability rather than an isolated issue.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1" dirty="0" smtClean="0"/>
                        <a:t>Conclusion: </a:t>
                      </a:r>
                      <a:r>
                        <a:rPr lang="en-US" sz="1200" b="1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Process issue</a:t>
                      </a:r>
                      <a:endParaRPr lang="en-US" sz="1200" b="0" kern="1200" baseline="0" dirty="0" smtClean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121920" marR="121920" marT="60960" marB="60960"/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0" i="0" u="non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Action: </a:t>
                      </a:r>
                      <a:r>
                        <a:rPr lang="en-US" sz="1200" dirty="0" smtClean="0"/>
                        <a:t>Notify all relevant departments to align and take necessary actions before ICT.</a:t>
                      </a:r>
                      <a:endParaRPr lang="en-US" sz="1200" b="0" i="0" u="none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877671165"/>
                  </a:ext>
                </a:extLst>
              </a:tr>
              <a:tr h="492298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altLang="zh-CN" sz="12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hat</a:t>
                      </a:r>
                      <a:endParaRPr lang="zh-TW" altLang="en-US" sz="1200" b="1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SFG135171</a:t>
                      </a:r>
                    </a:p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ICT Station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850900"/>
                  </a:ext>
                </a:extLst>
              </a:tr>
              <a:tr h="60641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altLang="zh-CN" sz="1200" b="1" dirty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hy</a:t>
                      </a:r>
                      <a:endParaRPr lang="zh-TW" altLang="en-US" sz="1200" b="1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Process issue</a:t>
                      </a: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3690"/>
                  </a:ext>
                </a:extLst>
              </a:tr>
              <a:tr h="9785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How</a:t>
                      </a: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dirty="0" smtClean="0"/>
                        <a:t>Short circuits are caused by solder bridging and solder residue.</a:t>
                      </a: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986258"/>
                  </a:ext>
                </a:extLst>
              </a:tr>
              <a:tr h="3063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How</a:t>
                      </a:r>
                      <a:r>
                        <a:rPr lang="en-US" altLang="zh-TW" sz="1200" b="1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Much</a:t>
                      </a:r>
                      <a:endParaRPr lang="en-US" altLang="zh-TW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dirty="0" smtClean="0"/>
                        <a:t>DFR: 15/7860(~0.2%)</a:t>
                      </a:r>
                      <a:br>
                        <a:rPr lang="en-US" sz="1200" dirty="0" smtClean="0"/>
                      </a:br>
                      <a:r>
                        <a:rPr lang="en-US" sz="1200" dirty="0" smtClean="0"/>
                        <a:t>(From 0h00:14/04 to 8h30-15/04)</a:t>
                      </a:r>
                      <a:endParaRPr lang="en-US" altLang="zh-TW" sz="1200" kern="1200" dirty="0">
                        <a:solidFill>
                          <a:schemeClr val="dk1"/>
                        </a:solidFill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2008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FBFEB9ED-E028-4197-87BB-41C7D391A50D}"/>
              </a:ext>
            </a:extLst>
          </p:cNvPr>
          <p:cNvSpPr/>
          <p:nvPr/>
        </p:nvSpPr>
        <p:spPr>
          <a:xfrm>
            <a:off x="4376779" y="961391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sz="1400" b="1">
              <a:solidFill>
                <a:srgbClr val="000000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331415" y="3671604"/>
            <a:ext cx="985842" cy="3320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Short U99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2577225" y="2332826"/>
            <a:ext cx="5564192" cy="442146"/>
            <a:chOff x="2682850" y="2314650"/>
            <a:chExt cx="5564192" cy="442146"/>
          </a:xfrm>
        </p:grpSpPr>
        <p:sp>
          <p:nvSpPr>
            <p:cNvPr id="16" name="Rectangle 15"/>
            <p:cNvSpPr/>
            <p:nvPr/>
          </p:nvSpPr>
          <p:spPr>
            <a:xfrm>
              <a:off x="4275864" y="2314650"/>
              <a:ext cx="1002188" cy="44214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Retest</a:t>
              </a:r>
            </a:p>
            <a:p>
              <a:pPr algn="ctr"/>
              <a:r>
                <a:rPr lang="en-US" sz="1400" dirty="0" smtClean="0"/>
                <a:t>-&gt; FAIL </a:t>
              </a:r>
              <a:endParaRPr lang="en-US" sz="1400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82850" y="2314650"/>
              <a:ext cx="1002188" cy="44214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Check</a:t>
              </a:r>
            </a:p>
            <a:p>
              <a:pPr algn="ctr"/>
              <a:r>
                <a:rPr lang="en-US" sz="1400" dirty="0"/>
                <a:t>VI_CDD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417B339-6680-4BB0-9E7B-170ECF99E0F2}"/>
                </a:ext>
              </a:extLst>
            </p:cNvPr>
            <p:cNvCxnSpPr>
              <a:cxnSpLocks/>
              <a:stCxn id="26" idx="3"/>
              <a:endCxn id="16" idx="1"/>
            </p:cNvCxnSpPr>
            <p:nvPr/>
          </p:nvCxnSpPr>
          <p:spPr>
            <a:xfrm>
              <a:off x="3685038" y="2535723"/>
              <a:ext cx="5908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417B339-6680-4BB0-9E7B-170ECF99E0F2}"/>
                </a:ext>
              </a:extLst>
            </p:cNvPr>
            <p:cNvCxnSpPr>
              <a:cxnSpLocks/>
              <a:stCxn id="16" idx="3"/>
              <a:endCxn id="27" idx="1"/>
            </p:cNvCxnSpPr>
            <p:nvPr/>
          </p:nvCxnSpPr>
          <p:spPr>
            <a:xfrm>
              <a:off x="5278052" y="2535723"/>
              <a:ext cx="4766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7244854" y="2314650"/>
              <a:ext cx="1002188" cy="44214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PASS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417B339-6680-4BB0-9E7B-170ECF99E0F2}"/>
                </a:ext>
              </a:extLst>
            </p:cNvPr>
            <p:cNvCxnSpPr>
              <a:cxnSpLocks/>
              <a:stCxn id="27" idx="3"/>
              <a:endCxn id="34" idx="1"/>
            </p:cNvCxnSpPr>
            <p:nvPr/>
          </p:nvCxnSpPr>
          <p:spPr>
            <a:xfrm>
              <a:off x="6756916" y="2535723"/>
              <a:ext cx="4879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5754728" y="2314650"/>
              <a:ext cx="1002188" cy="44214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Xray</a:t>
              </a:r>
              <a:endParaRPr lang="en-US" sz="14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734376" y="1927905"/>
            <a:ext cx="2179920" cy="1634940"/>
            <a:chOff x="0" y="0"/>
            <a:chExt cx="10058400" cy="7543800"/>
          </a:xfrm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0058400" cy="754380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>
            <a:xfrm>
              <a:off x="4597400" y="2184400"/>
              <a:ext cx="4165600" cy="2413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100"/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13" t="21998" r="36048" b="26402"/>
          <a:stretch/>
        </p:blipFill>
        <p:spPr>
          <a:xfrm>
            <a:off x="9935056" y="4112381"/>
            <a:ext cx="1778559" cy="1728317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7926640" y="6195681"/>
            <a:ext cx="1149677" cy="3320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Short DDR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286" y="4577206"/>
            <a:ext cx="1910384" cy="150942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0331414" y="5949457"/>
            <a:ext cx="985842" cy="3320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Short J13</a:t>
            </a:r>
          </a:p>
        </p:txBody>
      </p:sp>
    </p:spTree>
    <p:extLst>
      <p:ext uri="{BB962C8B-B14F-4D97-AF65-F5344CB8AC3E}">
        <p14:creationId xmlns:p14="http://schemas.microsoft.com/office/powerpoint/2010/main" val="54629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32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17557</TotalTime>
  <Words>247</Words>
  <Application>Microsoft Office PowerPoint</Application>
  <PresentationFormat>Widescreen</PresentationFormat>
  <Paragraphs>55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6" baseType="lpstr">
      <vt:lpstr>等线</vt:lpstr>
      <vt:lpstr>微软雅黑</vt:lpstr>
      <vt:lpstr>微软雅黑</vt:lpstr>
      <vt:lpstr>黑体</vt:lpstr>
      <vt:lpstr>微軟正黑體</vt:lpstr>
      <vt:lpstr>思源黑体 CN Heavy</vt:lpstr>
      <vt:lpstr>思源黑体 CN Normal</vt:lpstr>
      <vt:lpstr>思源黑体 CN Regular</vt:lpstr>
      <vt:lpstr>Arial</vt:lpstr>
      <vt:lpstr>Times New Roman</vt:lpstr>
      <vt:lpstr>Wingdings</vt:lpstr>
      <vt:lpstr>Office 主题​​</vt:lpstr>
      <vt:lpstr>1_Office 主题​​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ZMY</dc:creator>
  <cp:lastModifiedBy>鄧光演</cp:lastModifiedBy>
  <cp:revision>947</cp:revision>
  <dcterms:created xsi:type="dcterms:W3CDTF">2022-05-19T09:53:32Z</dcterms:created>
  <dcterms:modified xsi:type="dcterms:W3CDTF">2026-04-16T16:41:13Z</dcterms:modified>
</cp:coreProperties>
</file>